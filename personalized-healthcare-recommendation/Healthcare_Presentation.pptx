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2"/>
  </p:normalViewPr>
  <p:slideViewPr>
    <p:cSldViewPr snapToGrid="0" snapToObjects="1">
      <p:cViewPr varScale="1">
        <p:scale>
          <a:sx n="111" d="100"/>
          <a:sy n="111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045F72-EE12-4E5D-8254-90103380D9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8C2157B-9388-461F-8971-C8AE6ECA69FF}">
      <dgm:prSet/>
      <dgm:spPr/>
      <dgm:t>
        <a:bodyPr/>
        <a:lstStyle/>
        <a:p>
          <a:r>
            <a:rPr lang="en-US"/>
            <a:t>Achieved strong classification performance</a:t>
          </a:r>
        </a:p>
      </dgm:t>
    </dgm:pt>
    <dgm:pt modelId="{72670E47-893B-4C92-913B-E56F59AD81C8}" type="parTrans" cxnId="{1AACD1FF-454B-41A5-8994-A42B74FB9517}">
      <dgm:prSet/>
      <dgm:spPr/>
      <dgm:t>
        <a:bodyPr/>
        <a:lstStyle/>
        <a:p>
          <a:endParaRPr lang="en-US"/>
        </a:p>
      </dgm:t>
    </dgm:pt>
    <dgm:pt modelId="{F804FEDE-321C-4091-83C4-6DA651ECABE3}" type="sibTrans" cxnId="{1AACD1FF-454B-41A5-8994-A42B74FB9517}">
      <dgm:prSet/>
      <dgm:spPr/>
      <dgm:t>
        <a:bodyPr/>
        <a:lstStyle/>
        <a:p>
          <a:endParaRPr lang="en-US"/>
        </a:p>
      </dgm:t>
    </dgm:pt>
    <dgm:pt modelId="{F429860A-2CDE-436C-8D83-CFEA9D54A087}">
      <dgm:prSet/>
      <dgm:spPr/>
      <dgm:t>
        <a:bodyPr/>
        <a:lstStyle/>
        <a:p>
          <a:r>
            <a:rPr lang="en-US"/>
            <a:t>Insights generated from model outputs</a:t>
          </a:r>
        </a:p>
      </dgm:t>
    </dgm:pt>
    <dgm:pt modelId="{A6E888D9-73E6-49BB-BECD-70D56E9A2755}" type="parTrans" cxnId="{5F9E019F-376D-446D-B425-7F45D35B9DC2}">
      <dgm:prSet/>
      <dgm:spPr/>
      <dgm:t>
        <a:bodyPr/>
        <a:lstStyle/>
        <a:p>
          <a:endParaRPr lang="en-US"/>
        </a:p>
      </dgm:t>
    </dgm:pt>
    <dgm:pt modelId="{D476C78C-98AB-432F-A4FC-A94867B8B9F3}" type="sibTrans" cxnId="{5F9E019F-376D-446D-B425-7F45D35B9DC2}">
      <dgm:prSet/>
      <dgm:spPr/>
      <dgm:t>
        <a:bodyPr/>
        <a:lstStyle/>
        <a:p>
          <a:endParaRPr lang="en-US"/>
        </a:p>
      </dgm:t>
    </dgm:pt>
    <dgm:pt modelId="{DD2283AC-C545-40B4-9FE4-22AC9513156C}">
      <dgm:prSet/>
      <dgm:spPr/>
      <dgm:t>
        <a:bodyPr/>
        <a:lstStyle/>
        <a:p>
          <a:r>
            <a:rPr lang="en-US"/>
            <a:t>Foundation for recommendation engine</a:t>
          </a:r>
        </a:p>
      </dgm:t>
    </dgm:pt>
    <dgm:pt modelId="{5A9E77CE-5979-4426-BD50-873A314E2CDE}" type="parTrans" cxnId="{6E0CDCA3-82BB-4F96-92FB-E301A12F8E51}">
      <dgm:prSet/>
      <dgm:spPr/>
      <dgm:t>
        <a:bodyPr/>
        <a:lstStyle/>
        <a:p>
          <a:endParaRPr lang="en-US"/>
        </a:p>
      </dgm:t>
    </dgm:pt>
    <dgm:pt modelId="{0A1C29D7-EAD4-4603-8D60-FF51964D3B78}" type="sibTrans" cxnId="{6E0CDCA3-82BB-4F96-92FB-E301A12F8E51}">
      <dgm:prSet/>
      <dgm:spPr/>
      <dgm:t>
        <a:bodyPr/>
        <a:lstStyle/>
        <a:p>
          <a:endParaRPr lang="en-US"/>
        </a:p>
      </dgm:t>
    </dgm:pt>
    <dgm:pt modelId="{5C2B3FB8-3E88-40B0-A6EE-07095084A057}" type="pres">
      <dgm:prSet presAssocID="{75045F72-EE12-4E5D-8254-90103380D917}" presName="root" presStyleCnt="0">
        <dgm:presLayoutVars>
          <dgm:dir/>
          <dgm:resizeHandles val="exact"/>
        </dgm:presLayoutVars>
      </dgm:prSet>
      <dgm:spPr/>
    </dgm:pt>
    <dgm:pt modelId="{4D6FA7A8-4528-4111-A216-B25C8F3EBCFC}" type="pres">
      <dgm:prSet presAssocID="{A8C2157B-9388-461F-8971-C8AE6ECA69FF}" presName="compNode" presStyleCnt="0"/>
      <dgm:spPr/>
    </dgm:pt>
    <dgm:pt modelId="{728CA4AA-FC4D-45E5-A6CC-85D6D960A55D}" type="pres">
      <dgm:prSet presAssocID="{A8C2157B-9388-461F-8971-C8AE6ECA69FF}" presName="bgRect" presStyleLbl="bgShp" presStyleIdx="0" presStyleCnt="3"/>
      <dgm:spPr/>
    </dgm:pt>
    <dgm:pt modelId="{1EBE71E4-474A-42AC-9B98-3BCEBCC55D31}" type="pres">
      <dgm:prSet presAssocID="{A8C2157B-9388-461F-8971-C8AE6ECA69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7920C3C-F01D-47BB-AF7A-2ECA1D2C839F}" type="pres">
      <dgm:prSet presAssocID="{A8C2157B-9388-461F-8971-C8AE6ECA69FF}" presName="spaceRect" presStyleCnt="0"/>
      <dgm:spPr/>
    </dgm:pt>
    <dgm:pt modelId="{BC6D3588-C569-4DF5-BB81-C7C2A74381A4}" type="pres">
      <dgm:prSet presAssocID="{A8C2157B-9388-461F-8971-C8AE6ECA69FF}" presName="parTx" presStyleLbl="revTx" presStyleIdx="0" presStyleCnt="3">
        <dgm:presLayoutVars>
          <dgm:chMax val="0"/>
          <dgm:chPref val="0"/>
        </dgm:presLayoutVars>
      </dgm:prSet>
      <dgm:spPr/>
    </dgm:pt>
    <dgm:pt modelId="{FBFB6848-3D44-464B-8A06-10114E19BAAB}" type="pres">
      <dgm:prSet presAssocID="{F804FEDE-321C-4091-83C4-6DA651ECABE3}" presName="sibTrans" presStyleCnt="0"/>
      <dgm:spPr/>
    </dgm:pt>
    <dgm:pt modelId="{79EF92C9-E0E5-40BB-9B91-640ACA14AB5D}" type="pres">
      <dgm:prSet presAssocID="{F429860A-2CDE-436C-8D83-CFEA9D54A087}" presName="compNode" presStyleCnt="0"/>
      <dgm:spPr/>
    </dgm:pt>
    <dgm:pt modelId="{B9C3EF14-8AB0-4CED-828C-237C425F0853}" type="pres">
      <dgm:prSet presAssocID="{F429860A-2CDE-436C-8D83-CFEA9D54A087}" presName="bgRect" presStyleLbl="bgShp" presStyleIdx="1" presStyleCnt="3"/>
      <dgm:spPr/>
    </dgm:pt>
    <dgm:pt modelId="{F59889C3-E9D7-4DC1-9F7E-4CBFED211E4E}" type="pres">
      <dgm:prSet presAssocID="{F429860A-2CDE-436C-8D83-CFEA9D54A0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20D300C-674E-40EE-A737-3D841CD18702}" type="pres">
      <dgm:prSet presAssocID="{F429860A-2CDE-436C-8D83-CFEA9D54A087}" presName="spaceRect" presStyleCnt="0"/>
      <dgm:spPr/>
    </dgm:pt>
    <dgm:pt modelId="{B06D4AED-7FA7-45C9-9F91-6110BD30C1A9}" type="pres">
      <dgm:prSet presAssocID="{F429860A-2CDE-436C-8D83-CFEA9D54A087}" presName="parTx" presStyleLbl="revTx" presStyleIdx="1" presStyleCnt="3">
        <dgm:presLayoutVars>
          <dgm:chMax val="0"/>
          <dgm:chPref val="0"/>
        </dgm:presLayoutVars>
      </dgm:prSet>
      <dgm:spPr/>
    </dgm:pt>
    <dgm:pt modelId="{A9A28417-670B-4D5E-847C-15655A3D8F1F}" type="pres">
      <dgm:prSet presAssocID="{D476C78C-98AB-432F-A4FC-A94867B8B9F3}" presName="sibTrans" presStyleCnt="0"/>
      <dgm:spPr/>
    </dgm:pt>
    <dgm:pt modelId="{B3404008-B71D-4F8A-A7BD-29AC97F585B1}" type="pres">
      <dgm:prSet presAssocID="{DD2283AC-C545-40B4-9FE4-22AC9513156C}" presName="compNode" presStyleCnt="0"/>
      <dgm:spPr/>
    </dgm:pt>
    <dgm:pt modelId="{25844F98-877C-43A5-B56C-735EF6008107}" type="pres">
      <dgm:prSet presAssocID="{DD2283AC-C545-40B4-9FE4-22AC9513156C}" presName="bgRect" presStyleLbl="bgShp" presStyleIdx="2" presStyleCnt="3"/>
      <dgm:spPr/>
    </dgm:pt>
    <dgm:pt modelId="{1A6C23EA-F947-40CF-BB4D-8ED20116A4E2}" type="pres">
      <dgm:prSet presAssocID="{DD2283AC-C545-40B4-9FE4-22AC951315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C88DA44-1CD3-49CF-910B-8E0CE5048775}" type="pres">
      <dgm:prSet presAssocID="{DD2283AC-C545-40B4-9FE4-22AC9513156C}" presName="spaceRect" presStyleCnt="0"/>
      <dgm:spPr/>
    </dgm:pt>
    <dgm:pt modelId="{107AF40F-83FA-4002-8B7F-89A19F136C1F}" type="pres">
      <dgm:prSet presAssocID="{DD2283AC-C545-40B4-9FE4-22AC9513156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5ED6C06-79F1-4A3F-AADF-A40DAC79039E}" type="presOf" srcId="{F429860A-2CDE-436C-8D83-CFEA9D54A087}" destId="{B06D4AED-7FA7-45C9-9F91-6110BD30C1A9}" srcOrd="0" destOrd="0" presId="urn:microsoft.com/office/officeart/2018/2/layout/IconVerticalSolidList"/>
    <dgm:cxn modelId="{1F7D4F1F-8C0A-437E-BF0E-2173DCCF1E23}" type="presOf" srcId="{A8C2157B-9388-461F-8971-C8AE6ECA69FF}" destId="{BC6D3588-C569-4DF5-BB81-C7C2A74381A4}" srcOrd="0" destOrd="0" presId="urn:microsoft.com/office/officeart/2018/2/layout/IconVerticalSolidList"/>
    <dgm:cxn modelId="{2F736867-4183-4897-9807-D74A7B49E353}" type="presOf" srcId="{DD2283AC-C545-40B4-9FE4-22AC9513156C}" destId="{107AF40F-83FA-4002-8B7F-89A19F136C1F}" srcOrd="0" destOrd="0" presId="urn:microsoft.com/office/officeart/2018/2/layout/IconVerticalSolidList"/>
    <dgm:cxn modelId="{5F9E019F-376D-446D-B425-7F45D35B9DC2}" srcId="{75045F72-EE12-4E5D-8254-90103380D917}" destId="{F429860A-2CDE-436C-8D83-CFEA9D54A087}" srcOrd="1" destOrd="0" parTransId="{A6E888D9-73E6-49BB-BECD-70D56E9A2755}" sibTransId="{D476C78C-98AB-432F-A4FC-A94867B8B9F3}"/>
    <dgm:cxn modelId="{6E0CDCA3-82BB-4F96-92FB-E301A12F8E51}" srcId="{75045F72-EE12-4E5D-8254-90103380D917}" destId="{DD2283AC-C545-40B4-9FE4-22AC9513156C}" srcOrd="2" destOrd="0" parTransId="{5A9E77CE-5979-4426-BD50-873A314E2CDE}" sibTransId="{0A1C29D7-EAD4-4603-8D60-FF51964D3B78}"/>
    <dgm:cxn modelId="{394D0FD8-90DB-4348-A79B-E5C0FF54FE67}" type="presOf" srcId="{75045F72-EE12-4E5D-8254-90103380D917}" destId="{5C2B3FB8-3E88-40B0-A6EE-07095084A057}" srcOrd="0" destOrd="0" presId="urn:microsoft.com/office/officeart/2018/2/layout/IconVerticalSolidList"/>
    <dgm:cxn modelId="{1AACD1FF-454B-41A5-8994-A42B74FB9517}" srcId="{75045F72-EE12-4E5D-8254-90103380D917}" destId="{A8C2157B-9388-461F-8971-C8AE6ECA69FF}" srcOrd="0" destOrd="0" parTransId="{72670E47-893B-4C92-913B-E56F59AD81C8}" sibTransId="{F804FEDE-321C-4091-83C4-6DA651ECABE3}"/>
    <dgm:cxn modelId="{9808BADD-6BCF-4644-8912-32A240B5DDE8}" type="presParOf" srcId="{5C2B3FB8-3E88-40B0-A6EE-07095084A057}" destId="{4D6FA7A8-4528-4111-A216-B25C8F3EBCFC}" srcOrd="0" destOrd="0" presId="urn:microsoft.com/office/officeart/2018/2/layout/IconVerticalSolidList"/>
    <dgm:cxn modelId="{359336B8-BB38-4C75-A26E-C9006CB60325}" type="presParOf" srcId="{4D6FA7A8-4528-4111-A216-B25C8F3EBCFC}" destId="{728CA4AA-FC4D-45E5-A6CC-85D6D960A55D}" srcOrd="0" destOrd="0" presId="urn:microsoft.com/office/officeart/2018/2/layout/IconVerticalSolidList"/>
    <dgm:cxn modelId="{ED05E7C4-CDD3-4618-82DF-EA4785D49833}" type="presParOf" srcId="{4D6FA7A8-4528-4111-A216-B25C8F3EBCFC}" destId="{1EBE71E4-474A-42AC-9B98-3BCEBCC55D31}" srcOrd="1" destOrd="0" presId="urn:microsoft.com/office/officeart/2018/2/layout/IconVerticalSolidList"/>
    <dgm:cxn modelId="{73FEF691-2A8F-4219-8ED8-8EB68DDC780E}" type="presParOf" srcId="{4D6FA7A8-4528-4111-A216-B25C8F3EBCFC}" destId="{B7920C3C-F01D-47BB-AF7A-2ECA1D2C839F}" srcOrd="2" destOrd="0" presId="urn:microsoft.com/office/officeart/2018/2/layout/IconVerticalSolidList"/>
    <dgm:cxn modelId="{58E21E39-D170-49A4-989F-11E0EC41DB2E}" type="presParOf" srcId="{4D6FA7A8-4528-4111-A216-B25C8F3EBCFC}" destId="{BC6D3588-C569-4DF5-BB81-C7C2A74381A4}" srcOrd="3" destOrd="0" presId="urn:microsoft.com/office/officeart/2018/2/layout/IconVerticalSolidList"/>
    <dgm:cxn modelId="{8DE7B8A1-F013-408B-AB4C-233AA8A6669F}" type="presParOf" srcId="{5C2B3FB8-3E88-40B0-A6EE-07095084A057}" destId="{FBFB6848-3D44-464B-8A06-10114E19BAAB}" srcOrd="1" destOrd="0" presId="urn:microsoft.com/office/officeart/2018/2/layout/IconVerticalSolidList"/>
    <dgm:cxn modelId="{D4C1AC0A-A0E1-4838-84A5-6B99F9BCB7CD}" type="presParOf" srcId="{5C2B3FB8-3E88-40B0-A6EE-07095084A057}" destId="{79EF92C9-E0E5-40BB-9B91-640ACA14AB5D}" srcOrd="2" destOrd="0" presId="urn:microsoft.com/office/officeart/2018/2/layout/IconVerticalSolidList"/>
    <dgm:cxn modelId="{7C9104F8-2282-45DB-80C8-B8ACBB009649}" type="presParOf" srcId="{79EF92C9-E0E5-40BB-9B91-640ACA14AB5D}" destId="{B9C3EF14-8AB0-4CED-828C-237C425F0853}" srcOrd="0" destOrd="0" presId="urn:microsoft.com/office/officeart/2018/2/layout/IconVerticalSolidList"/>
    <dgm:cxn modelId="{AB6E7A45-48E1-4C07-A472-6C34132E3ABA}" type="presParOf" srcId="{79EF92C9-E0E5-40BB-9B91-640ACA14AB5D}" destId="{F59889C3-E9D7-4DC1-9F7E-4CBFED211E4E}" srcOrd="1" destOrd="0" presId="urn:microsoft.com/office/officeart/2018/2/layout/IconVerticalSolidList"/>
    <dgm:cxn modelId="{4DAEBE8A-F818-4F1C-B213-F9D7EF9D0CD4}" type="presParOf" srcId="{79EF92C9-E0E5-40BB-9B91-640ACA14AB5D}" destId="{620D300C-674E-40EE-A737-3D841CD18702}" srcOrd="2" destOrd="0" presId="urn:microsoft.com/office/officeart/2018/2/layout/IconVerticalSolidList"/>
    <dgm:cxn modelId="{2C02DBDA-9918-47CF-AAF3-5BD7A9629B66}" type="presParOf" srcId="{79EF92C9-E0E5-40BB-9B91-640ACA14AB5D}" destId="{B06D4AED-7FA7-45C9-9F91-6110BD30C1A9}" srcOrd="3" destOrd="0" presId="urn:microsoft.com/office/officeart/2018/2/layout/IconVerticalSolidList"/>
    <dgm:cxn modelId="{9E7DAC83-B903-445E-94F7-873D19FE61B2}" type="presParOf" srcId="{5C2B3FB8-3E88-40B0-A6EE-07095084A057}" destId="{A9A28417-670B-4D5E-847C-15655A3D8F1F}" srcOrd="3" destOrd="0" presId="urn:microsoft.com/office/officeart/2018/2/layout/IconVerticalSolidList"/>
    <dgm:cxn modelId="{37E64AD8-A7FB-4BE4-A2E2-97E85980959A}" type="presParOf" srcId="{5C2B3FB8-3E88-40B0-A6EE-07095084A057}" destId="{B3404008-B71D-4F8A-A7BD-29AC97F585B1}" srcOrd="4" destOrd="0" presId="urn:microsoft.com/office/officeart/2018/2/layout/IconVerticalSolidList"/>
    <dgm:cxn modelId="{E3FE5327-89C0-4D4C-8095-1FA6D549115D}" type="presParOf" srcId="{B3404008-B71D-4F8A-A7BD-29AC97F585B1}" destId="{25844F98-877C-43A5-B56C-735EF6008107}" srcOrd="0" destOrd="0" presId="urn:microsoft.com/office/officeart/2018/2/layout/IconVerticalSolidList"/>
    <dgm:cxn modelId="{DD5A04D3-A732-4EC5-BBFA-4D4AFE9258DF}" type="presParOf" srcId="{B3404008-B71D-4F8A-A7BD-29AC97F585B1}" destId="{1A6C23EA-F947-40CF-BB4D-8ED20116A4E2}" srcOrd="1" destOrd="0" presId="urn:microsoft.com/office/officeart/2018/2/layout/IconVerticalSolidList"/>
    <dgm:cxn modelId="{4494FBFD-105B-4D5B-B4C9-32ED54101E20}" type="presParOf" srcId="{B3404008-B71D-4F8A-A7BD-29AC97F585B1}" destId="{AC88DA44-1CD3-49CF-910B-8E0CE5048775}" srcOrd="2" destOrd="0" presId="urn:microsoft.com/office/officeart/2018/2/layout/IconVerticalSolidList"/>
    <dgm:cxn modelId="{DBD64740-0491-48BF-93BD-2F046634C94E}" type="presParOf" srcId="{B3404008-B71D-4F8A-A7BD-29AC97F585B1}" destId="{107AF40F-83FA-4002-8B7F-89A19F136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8CA4AA-FC4D-45E5-A6CC-85D6D960A55D}">
      <dsp:nvSpPr>
        <dsp:cNvPr id="0" name=""/>
        <dsp:cNvSpPr/>
      </dsp:nvSpPr>
      <dsp:spPr>
        <a:xfrm>
          <a:off x="0" y="673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E71E4-474A-42AC-9B98-3BCEBCC55D31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D3588-C569-4DF5-BB81-C7C2A74381A4}">
      <dsp:nvSpPr>
        <dsp:cNvPr id="0" name=""/>
        <dsp:cNvSpPr/>
      </dsp:nvSpPr>
      <dsp:spPr>
        <a:xfrm>
          <a:off x="1819120" y="673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Achieved strong classification performance</a:t>
          </a:r>
        </a:p>
      </dsp:txBody>
      <dsp:txXfrm>
        <a:off x="1819120" y="673"/>
        <a:ext cx="2954047" cy="1574995"/>
      </dsp:txXfrm>
    </dsp:sp>
    <dsp:sp modelId="{B9C3EF14-8AB0-4CED-828C-237C425F0853}">
      <dsp:nvSpPr>
        <dsp:cNvPr id="0" name=""/>
        <dsp:cNvSpPr/>
      </dsp:nvSpPr>
      <dsp:spPr>
        <a:xfrm>
          <a:off x="0" y="1969418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889C3-E9D7-4DC1-9F7E-4CBFED211E4E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D4AED-7FA7-45C9-9F91-6110BD30C1A9}">
      <dsp:nvSpPr>
        <dsp:cNvPr id="0" name=""/>
        <dsp:cNvSpPr/>
      </dsp:nvSpPr>
      <dsp:spPr>
        <a:xfrm>
          <a:off x="1819120" y="1969418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Insights generated from model outputs</a:t>
          </a:r>
        </a:p>
      </dsp:txBody>
      <dsp:txXfrm>
        <a:off x="1819120" y="1969418"/>
        <a:ext cx="2954047" cy="1574995"/>
      </dsp:txXfrm>
    </dsp:sp>
    <dsp:sp modelId="{25844F98-877C-43A5-B56C-735EF6008107}">
      <dsp:nvSpPr>
        <dsp:cNvPr id="0" name=""/>
        <dsp:cNvSpPr/>
      </dsp:nvSpPr>
      <dsp:spPr>
        <a:xfrm>
          <a:off x="0" y="3938162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C23EA-F947-40CF-BB4D-8ED20116A4E2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AF40F-83FA-4002-8B7F-89A19F136C1F}">
      <dsp:nvSpPr>
        <dsp:cNvPr id="0" name=""/>
        <dsp:cNvSpPr/>
      </dsp:nvSpPr>
      <dsp:spPr>
        <a:xfrm>
          <a:off x="1819120" y="3938162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Foundation for recommendation engine</a:t>
          </a:r>
        </a:p>
      </dsp:txBody>
      <dsp:txXfrm>
        <a:off x="1819120" y="3938162"/>
        <a:ext cx="2954047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Personalized Healthcare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 dirty="0">
                <a:solidFill>
                  <a:schemeClr val="tx2"/>
                </a:solidFill>
              </a:rPr>
              <a:t>Project Summary</a:t>
            </a:r>
          </a:p>
        </p:txBody>
      </p:sp>
      <p:pic>
        <p:nvPicPr>
          <p:cNvPr id="7" name="Graphic 6" descr="Stethoscope">
            <a:extLst>
              <a:ext uri="{FF2B5EF4-FFF2-40B4-BE49-F238E27FC236}">
                <a16:creationId xmlns:a16="http://schemas.microsoft.com/office/drawing/2014/main" id="{61A97100-17F7-F7F1-94A8-513EE0B92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755073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Overview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049325"/>
            <a:ext cx="7375161" cy="2945574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Goal: Build ML model to recommend personalized healthcare actions</a:t>
            </a:r>
          </a:p>
          <a:p>
            <a:r>
              <a:rPr lang="en-US" sz="1600">
                <a:solidFill>
                  <a:schemeClr val="tx2"/>
                </a:solidFill>
              </a:rPr>
              <a:t>Used RandomForestClassifier pipeline</a:t>
            </a:r>
          </a:p>
          <a:p>
            <a:r>
              <a:rPr lang="en-US" sz="1600">
                <a:solidFill>
                  <a:schemeClr val="tx2"/>
                </a:solidFill>
              </a:rPr>
              <a:t>Preprocessing: scaling + one-hot encoding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755073"/>
            <a:ext cx="7375161" cy="1066802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Data &amp; Preprocessing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049325"/>
            <a:ext cx="7375161" cy="2945574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Loaded dataset with patient info and health indicators</a:t>
            </a:r>
          </a:p>
          <a:p>
            <a:r>
              <a:rPr lang="en-US" sz="1600">
                <a:solidFill>
                  <a:schemeClr val="tx2"/>
                </a:solidFill>
              </a:rPr>
              <a:t>Handled categorical and numerical features</a:t>
            </a:r>
          </a:p>
          <a:p>
            <a:r>
              <a:rPr lang="en-US" sz="1600">
                <a:solidFill>
                  <a:schemeClr val="tx2"/>
                </a:solidFill>
              </a:rPr>
              <a:t>Train-test split and standardized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Modeling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Pipeline: ColumnTransformer + RandomForest</a:t>
            </a:r>
          </a:p>
          <a:p>
            <a:r>
              <a:rPr lang="en-US" sz="1600">
                <a:solidFill>
                  <a:schemeClr val="tx2"/>
                </a:solidFill>
              </a:rPr>
              <a:t>Evaluated using classification_report and confusion matrix</a:t>
            </a:r>
          </a:p>
          <a:p>
            <a:r>
              <a:rPr lang="en-US" sz="1600">
                <a:solidFill>
                  <a:schemeClr val="tx2"/>
                </a:solidFill>
              </a:rPr>
              <a:t>Optimized for balanced performance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46D70B-5F3C-A2E7-8E69-25B7E228C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67380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r>
              <a:rPr lang="en-US" sz="1600">
                <a:solidFill>
                  <a:schemeClr val="tx2"/>
                </a:solidFill>
              </a:rPr>
              <a:t>End-to-end ML workflow completed</a:t>
            </a:r>
          </a:p>
          <a:p>
            <a:r>
              <a:rPr lang="en-US" sz="1600">
                <a:solidFill>
                  <a:schemeClr val="tx2"/>
                </a:solidFill>
              </a:rPr>
              <a:t>Scalable for real-world healthcare personalization</a:t>
            </a:r>
          </a:p>
          <a:p>
            <a:r>
              <a:rPr lang="en-US" sz="1600">
                <a:solidFill>
                  <a:schemeClr val="tx2"/>
                </a:solidFill>
              </a:rPr>
              <a:t>Future work: add explainability &amp; more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</Words>
  <Application>Microsoft Macintosh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Personalized Healthcare Recommendation System</vt:lpstr>
      <vt:lpstr>Overview</vt:lpstr>
      <vt:lpstr>Data &amp; Preprocessing</vt:lpstr>
      <vt:lpstr>Modeling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PRAMODKUMAR A GOUNDI</cp:lastModifiedBy>
  <cp:revision>2</cp:revision>
  <dcterms:created xsi:type="dcterms:W3CDTF">2013-01-27T09:14:16Z</dcterms:created>
  <dcterms:modified xsi:type="dcterms:W3CDTF">2025-11-22T10:25:57Z</dcterms:modified>
  <cp:category/>
</cp:coreProperties>
</file>